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curta. Não me alonga.</a:t>
            </a:r>
          </a:p>
          <a:p/>
          <a:p>
            <a:r>
              <a:t>'Bom dia a todos. Meu nome é Geovane Virmecati. Nos próximos 10 minutos vocês vão ver o método que o professor acabou de apresentar transformado em ferramenta. E o mais importante: vão ver COMO essa ferramenta foi construída — porque o processo é exatamente o que o curso está formando.'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Deixa a frase pousar. Olhe para o professor quando disser isso.</a:t>
            </a:r>
          </a:p>
          <a:p/>
          <a:p>
            <a:r>
              <a:t>'Essa frase do professor é o eixo da apresentação. O que vocês vão ver a seguir é a tentativa mais literal possível de honrar esse princípio: usar IA como método, não como ferramenta.'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Aponta cada caixa. Não leia em voz alta — os alunos leem sozinhos.</a:t>
            </a:r>
          </a:p>
          <a:p/>
          <a:p>
            <a:r>
              <a:t>'É literalmente o Mapa 5 Blocos da Empresa Alfa que o professor mostrou. A diferença é que agora cada aluno preenche com o CONTEXTO DELE, e sai da sala com o PDF já pronto para levar para a diretoria.'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é só para o público entender que agora começa a demo. Não fica muito tempo aqui — abre o app no navegador e roda o caso ao vivo.</a:t>
            </a:r>
          </a:p>
          <a:p/>
          <a:p>
            <a:r>
              <a:t>Sequência da demo:</a:t>
            </a:r>
          </a:p>
          <a:p>
            <a:r>
              <a:t>1. Preenche contexto (30s) — usa um nome fictício ou pede um voluntário da sala</a:t>
            </a:r>
          </a:p>
          <a:p>
            <a:r>
              <a:t>2. Diagnóstico com 5 sliders (1min) — pontuações que caem no Nível 3</a:t>
            </a:r>
          </a:p>
          <a:p>
            <a:r>
              <a:t>3. Mapa 5 Blocos (2min) — cola textos preparados OU escreve ao vivo baseado no caso da sala</a:t>
            </a:r>
          </a:p>
          <a:p>
            <a:r>
              <a:t>4. Aba 4 mostra os 3 pilotos aparecendo automaticamente</a:t>
            </a:r>
          </a:p>
          <a:p>
            <a:r>
              <a:t>5. Gera o PDF na aba 5 e projeta</a:t>
            </a:r>
          </a:p>
          <a:p/>
          <a:p>
            <a:r>
              <a:t>Total demo: ~5 minutos. Se der bug, pule para o slide 5 (não pare).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Devagar aqui. Este é o coração da apresentação.</a:t>
            </a:r>
          </a:p>
          <a:p/>
          <a:p>
            <a:r>
              <a:t>'Reparem: das 8 etapas, só a 5 é CODAR. As outras 7 são MÉTODO. O professor falou hoje que consultor é quem pensa antes, não quem executa mais rápido. Foi exatamente isso que eu tentei fazer.'</a:t>
            </a:r>
          </a:p>
          <a:p/>
          <a:p>
            <a:r>
              <a:t>Ponto forte para a diretoria: 17KB de arquitetura em markdown ANTES do primeiro `def`.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'Não pedi para uma IA fazer tudo. Distribuí em 4 agentes, cada um com UMA função. Isso é literalmente separação de responsabilidades — princípio básico de engenharia de software aplicado à orquestração de IA.'</a:t>
            </a:r>
          </a:p>
          <a:p/>
          <a:p>
            <a:r>
              <a:t>Se alguém perguntar sobre HITL, responde: 'Entre cada agente eu revisei manualmente o output antes do próximo entrar. IA sugere, humano valida, próximo agente executa. Isso é HITL de verdade — não é botão de aprovar no fim.'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provoca. Pause aqui.</a:t>
            </a:r>
          </a:p>
          <a:p/>
          <a:p>
            <a:r>
              <a:t>'Alguém deve estar pensando: "Mas se é um app de IA, por que não usa IA para decidir os pilotos?" Boa pergunta.</a:t>
            </a:r>
          </a:p>
          <a:p/>
          <a:p>
            <a:r>
              <a:t>RESPOSTA: porque a aula ensina que IA sem governança vira caixa-preta. Se cada execução chamasse LLM, o app seria menos consultivo, não mais. Diretoria pediria: "prove que a recomendação está certa". Com regra determinística, eu abro o código e mostro. Com LLM, eu digo "confia".</a:t>
            </a:r>
          </a:p>
          <a:p/>
          <a:p>
            <a:r>
              <a:t>IA foi usada NA CONSTRUÇÃO. NÃO NA OPERAÇÃO. Essa é a diferença entre consultor e vendedor de ferramenta.'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slide da apresentação. Fala devagar.</a:t>
            </a:r>
          </a:p>
          <a:p/>
          <a:p>
            <a:r>
              <a:t>'Cada frase que o professor disse hoje virou uma decisão de arquitetura deste app. Não foi coincidência. Foi tentativa DELIBERADA de honrar o método aplicando ele em cima de si mesmo.'</a:t>
            </a:r>
          </a:p>
          <a:p/>
          <a:p>
            <a:r>
              <a:t>Última linha, olhando para o professor: 'Se o app funciona, é porque o método funciona.'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Vá lendo os números um por um. Deixe o público absorver.</a:t>
            </a:r>
          </a:p>
          <a:p/>
          <a:p>
            <a:r>
              <a:t>Ponto forte para provocação:</a:t>
            </a:r>
          </a:p>
          <a:p>
            <a:r>
              <a:t>'R$ 0 por uso. Zero. Cada aluno na sala pode instalar isso no notebook dele e usar quantas vezes quiser sem pagar centavo. Diretoria adora ROI infinito.'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curto e firme.</a:t>
            </a:r>
          </a:p>
          <a:p/>
          <a:p>
            <a:r>
              <a:t>'Essa é a mensagem que eu queria deixar. IA sem método vira ferramenta. IA com método vira valor. Este app é a tentativa mais literal possível de honrar o método do professor Bezerra — usando ele em cima de si mesmo.</a:t>
            </a:r>
          </a:p>
          <a:p/>
          <a:p>
            <a:r>
              <a:t>Obrigado pela atenção. Se algum de vocês quiser instalar na própria máquina, o professor tem o pacote com um instalador de duplo-clique. Zero custo, zero dependência de servidor.</a:t>
            </a:r>
          </a:p>
          <a:p/>
          <a:p>
            <a:r>
              <a:t>Perguntas?'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Helvetica"/>
              </a:rPr>
              <a:t>Do método à ferramenta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D7D31"/>
                </a:solidFill>
                <a:latin typeface="Helvetica"/>
              </a:rPr>
              <a:t>diag-ia-pppm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2F2F2"/>
                </a:solidFill>
                <a:latin typeface="Helvetica"/>
              </a:rPr>
              <a:t>Um app que materializa o método da Aula 1 do Prof. Dr. José Bezerra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2F2F2"/>
                </a:solidFill>
                <a:latin typeface="Helvetica"/>
              </a:rPr>
              <a:t>Geovane Virmecati  ·  Eixo Estratégico  ·  Formação de Consultores em IA aplicada ao PPPM — BSBr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Helvetica"/>
              </a:rPr>
              <a:t>A provocação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Helvetica"/>
              </a:rPr>
              <a:t>Vocês acabaram de ver um método. Agora vão ver ele virado ferramenta em 5 minutos.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926080"/>
            <a:ext cx="9418320" cy="18288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28600" bIns="228600"/>
          <a:lstStyle/>
          <a:p>
            <a:pPr algn="ctr"/>
            <a:r>
              <a:rPr sz="2000" b="1">
                <a:solidFill>
                  <a:srgbClr val="FFFFFF"/>
                </a:solidFill>
                <a:latin typeface="Helvetica"/>
              </a:rPr>
              <a:t>"IA sem método vira ferramenta. IA com método vira valor."</a:t>
            </a:r>
          </a:p>
          <a:p>
            <a:pPr algn="ctr">
              <a:spcBef>
                <a:spcPts val="800"/>
              </a:spcBef>
            </a:pPr>
            <a:r>
              <a:rPr sz="1100" i="1">
                <a:solidFill>
                  <a:srgbClr val="C0C0C0"/>
                </a:solidFill>
                <a:latin typeface="Helvetica"/>
              </a:rPr>
              <a:t>Prof. Dr. José Bezerra · Aula 1 · slide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Helvetica"/>
              </a:rPr>
              <a:t>diag-ia-pppm  ·  Geovane Virmecati  ·  Eixo Estratégico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Helvetica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Helvetica"/>
              </a:rPr>
              <a:t>O que o app faz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Helvetica"/>
              </a:rPr>
              <a:t>Fluxo em 5 etapas — o mesmo método da Empresa Alfa, com os dados do participante.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727" y="2377440"/>
            <a:ext cx="2103120" cy="23774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82880"/>
          <a:lstStyle/>
          <a:p>
            <a:pPr algn="ctr"/>
            <a:r>
              <a:rPr sz="2800" b="1">
                <a:solidFill>
                  <a:srgbClr val="ED7D31"/>
                </a:solidFill>
                <a:latin typeface="Helvetica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sz="1500" b="1">
                <a:solidFill>
                  <a:srgbClr val="1F4E79"/>
                </a:solidFill>
                <a:latin typeface="Helvetica"/>
              </a:rPr>
              <a:t>Contexto</a:t>
            </a:r>
          </a:p>
          <a:p>
            <a:pPr algn="ctr">
              <a:spcBef>
                <a:spcPts val="1000"/>
              </a:spcBef>
            </a:pPr>
            <a:r>
              <a:rPr sz="1100">
                <a:solidFill>
                  <a:srgbClr val="1F1F1F"/>
                </a:solidFill>
                <a:latin typeface="Helvetica"/>
              </a:rPr>
              <a:t>empresa, porte,
projetos, PMO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4007" y="2377440"/>
            <a:ext cx="2103120" cy="23774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82880"/>
          <a:lstStyle/>
          <a:p>
            <a:pPr algn="ctr"/>
            <a:r>
              <a:rPr sz="2800" b="1">
                <a:solidFill>
                  <a:srgbClr val="ED7D31"/>
                </a:solidFill>
                <a:latin typeface="Helvetica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sz="1500" b="1">
                <a:solidFill>
                  <a:srgbClr val="1F4E79"/>
                </a:solidFill>
                <a:latin typeface="Helvetica"/>
              </a:rPr>
              <a:t>Diagnóstico</a:t>
            </a:r>
          </a:p>
          <a:p>
            <a:pPr algn="ctr">
              <a:spcBef>
                <a:spcPts val="1000"/>
              </a:spcBef>
            </a:pPr>
            <a:r>
              <a:rPr sz="1100">
                <a:solidFill>
                  <a:srgbClr val="1F1F1F"/>
                </a:solidFill>
                <a:latin typeface="Helvetica"/>
              </a:rPr>
              <a:t>5 dimensões
× 0-6 pontos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4287" y="2377440"/>
            <a:ext cx="2103120" cy="23774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82880"/>
          <a:lstStyle/>
          <a:p>
            <a:pPr algn="ctr"/>
            <a:r>
              <a:rPr sz="2800" b="1">
                <a:solidFill>
                  <a:srgbClr val="ED7D31"/>
                </a:solidFill>
                <a:latin typeface="Helvetica"/>
              </a:rPr>
              <a:t>3</a:t>
            </a:r>
          </a:p>
          <a:p>
            <a:pPr algn="ctr">
              <a:spcBef>
                <a:spcPts val="600"/>
              </a:spcBef>
            </a:pPr>
            <a:r>
              <a:rPr sz="1500" b="1">
                <a:solidFill>
                  <a:srgbClr val="1F4E79"/>
                </a:solidFill>
                <a:latin typeface="Helvetica"/>
              </a:rPr>
              <a:t>Mapa 5 Blocos</a:t>
            </a:r>
          </a:p>
          <a:p>
            <a:pPr algn="ctr">
              <a:spcBef>
                <a:spcPts val="1000"/>
              </a:spcBef>
            </a:pPr>
            <a:r>
              <a:rPr sz="1100">
                <a:solidFill>
                  <a:srgbClr val="1F1F1F"/>
                </a:solidFill>
                <a:latin typeface="Helvetica"/>
              </a:rPr>
              <a:t>Contexto, Dor,
Dados, Riscos, Valor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84567" y="2377440"/>
            <a:ext cx="2103120" cy="23774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82880"/>
          <a:lstStyle/>
          <a:p>
            <a:pPr algn="ctr"/>
            <a:r>
              <a:rPr sz="2800" b="1">
                <a:solidFill>
                  <a:srgbClr val="ED7D31"/>
                </a:solidFill>
                <a:latin typeface="Helvetica"/>
              </a:rPr>
              <a:t>4</a:t>
            </a:r>
          </a:p>
          <a:p>
            <a:pPr algn="ctr">
              <a:spcBef>
                <a:spcPts val="600"/>
              </a:spcBef>
            </a:pPr>
            <a:r>
              <a:rPr sz="1500" b="1">
                <a:solidFill>
                  <a:srgbClr val="1F4E79"/>
                </a:solidFill>
                <a:latin typeface="Helvetica"/>
              </a:rPr>
              <a:t>3 Pilotos</a:t>
            </a:r>
          </a:p>
          <a:p>
            <a:pPr algn="ctr">
              <a:spcBef>
                <a:spcPts val="1000"/>
              </a:spcBef>
            </a:pPr>
            <a:r>
              <a:rPr sz="1100">
                <a:solidFill>
                  <a:srgbClr val="1F1F1F"/>
                </a:solidFill>
                <a:latin typeface="Helvetica"/>
              </a:rPr>
              <a:t>recomendação
determinística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24847" y="2377440"/>
            <a:ext cx="2103120" cy="23774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82880"/>
          <a:lstStyle/>
          <a:p>
            <a:pPr algn="ctr"/>
            <a:r>
              <a:rPr sz="2800" b="1">
                <a:solidFill>
                  <a:srgbClr val="ED7D31"/>
                </a:solidFill>
                <a:latin typeface="Helvetica"/>
              </a:rPr>
              <a:t>5</a:t>
            </a:r>
          </a:p>
          <a:p>
            <a:pPr algn="ctr">
              <a:spcBef>
                <a:spcPts val="600"/>
              </a:spcBef>
            </a:pPr>
            <a:r>
              <a:rPr sz="1500" b="1">
                <a:solidFill>
                  <a:srgbClr val="1F4E79"/>
                </a:solidFill>
                <a:latin typeface="Helvetica"/>
              </a:rPr>
              <a:t>PDF</a:t>
            </a:r>
          </a:p>
          <a:p>
            <a:pPr algn="ctr">
              <a:spcBef>
                <a:spcPts val="1000"/>
              </a:spcBef>
            </a:pPr>
            <a:r>
              <a:rPr sz="1100">
                <a:solidFill>
                  <a:srgbClr val="1F1F1F"/>
                </a:solidFill>
                <a:latin typeface="Helvetica"/>
              </a:rPr>
              <a:t>entregável
executivo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ED7D31"/>
                </a:solidFill>
                <a:latin typeface="Helvetica"/>
              </a:rPr>
              <a:t>Tempo total do participante: ~10 minutos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Helvetica"/>
              </a:rPr>
              <a:t>diag-ia-pppm  ·  Geovane Virmecati  ·  Eixo Estratégico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Helvetica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Helvetica"/>
              </a:rPr>
              <a:t>Demo ao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i="1">
                <a:solidFill>
                  <a:srgbClr val="F2F2F2"/>
                </a:solidFill>
                <a:latin typeface="Helvetica"/>
              </a:rPr>
              <a:t>Vou rodar aqui — na minha máquina, offline, sem chamar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ED7D31"/>
                </a:solidFill>
                <a:latin typeface="Courier New"/>
              </a:rPr>
              <a:t>http://localhost:8511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Helvetica"/>
              </a:rPr>
              <a:t>Como foi construído — pipeline formal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Helvetica"/>
              </a:rPr>
              <a:t>Não foi "prompt aleatório para IA". Foi processo com etapas, gates e validação humana.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0907" y="2286000"/>
            <a:ext cx="2514600" cy="13716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0"/>
          <a:lstStyle/>
          <a:p>
            <a:pPr algn="ctr"/>
            <a:r>
              <a:rPr sz="2000" b="1">
                <a:solidFill>
                  <a:srgbClr val="ED7D31"/>
                </a:solidFill>
                <a:latin typeface="Helvetica"/>
              </a:rPr>
              <a:t>1. </a:t>
            </a:r>
            <a:r>
              <a:rPr sz="1800" b="1">
                <a:solidFill>
                  <a:srgbClr val="1F4E79"/>
                </a:solidFill>
                <a:latin typeface="Helvetica"/>
              </a:rPr>
              <a:t>Backlog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12667" y="2286000"/>
            <a:ext cx="2514600" cy="13716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0"/>
          <a:lstStyle/>
          <a:p>
            <a:pPr algn="ctr"/>
            <a:r>
              <a:rPr sz="2000" b="1">
                <a:solidFill>
                  <a:srgbClr val="ED7D31"/>
                </a:solidFill>
                <a:latin typeface="Helvetica"/>
              </a:rPr>
              <a:t>2. </a:t>
            </a:r>
            <a:r>
              <a:rPr sz="1800" b="1">
                <a:solidFill>
                  <a:srgbClr val="1F4E79"/>
                </a:solidFill>
                <a:latin typeface="Helvetica"/>
              </a:rPr>
              <a:t>Triagem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4427" y="2286000"/>
            <a:ext cx="2514600" cy="13716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0"/>
          <a:lstStyle/>
          <a:p>
            <a:pPr algn="ctr"/>
            <a:r>
              <a:rPr sz="2000" b="1">
                <a:solidFill>
                  <a:srgbClr val="ED7D31"/>
                </a:solidFill>
                <a:latin typeface="Helvetica"/>
              </a:rPr>
              <a:t>3. </a:t>
            </a:r>
            <a:r>
              <a:rPr sz="1800" b="1">
                <a:solidFill>
                  <a:srgbClr val="1F4E79"/>
                </a:solidFill>
                <a:latin typeface="Helvetica"/>
              </a:rPr>
              <a:t>Especificação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16187" y="2286000"/>
            <a:ext cx="2514600" cy="13716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0"/>
          <a:lstStyle/>
          <a:p>
            <a:pPr algn="ctr"/>
            <a:r>
              <a:rPr sz="2000" b="1">
                <a:solidFill>
                  <a:srgbClr val="ED7D31"/>
                </a:solidFill>
                <a:latin typeface="Helvetica"/>
              </a:rPr>
              <a:t>4. </a:t>
            </a:r>
            <a:r>
              <a:rPr sz="1800" b="1">
                <a:solidFill>
                  <a:srgbClr val="1F4E79"/>
                </a:solidFill>
                <a:latin typeface="Helvetica"/>
              </a:rPr>
              <a:t>Arquitetura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0907" y="3977640"/>
            <a:ext cx="2514600" cy="13716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0"/>
          <a:lstStyle/>
          <a:p>
            <a:pPr algn="ctr"/>
            <a:r>
              <a:rPr sz="2000" b="1">
                <a:solidFill>
                  <a:srgbClr val="ED7D31"/>
                </a:solidFill>
                <a:latin typeface="Helvetica"/>
              </a:rPr>
              <a:t>5. </a:t>
            </a:r>
            <a:r>
              <a:rPr sz="1800" b="1">
                <a:solidFill>
                  <a:srgbClr val="1F4E79"/>
                </a:solidFill>
                <a:latin typeface="Helvetica"/>
              </a:rPr>
              <a:t>Construção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2667" y="3977640"/>
            <a:ext cx="2514600" cy="13716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0"/>
          <a:lstStyle/>
          <a:p>
            <a:pPr algn="ctr"/>
            <a:r>
              <a:rPr sz="2000" b="1">
                <a:solidFill>
                  <a:srgbClr val="ED7D31"/>
                </a:solidFill>
                <a:latin typeface="Helvetica"/>
              </a:rPr>
              <a:t>6. </a:t>
            </a:r>
            <a:r>
              <a:rPr sz="1800" b="1">
                <a:solidFill>
                  <a:srgbClr val="1F4E79"/>
                </a:solidFill>
                <a:latin typeface="Helvetica"/>
              </a:rPr>
              <a:t>Validação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3977640"/>
            <a:ext cx="2514600" cy="13716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0"/>
          <a:lstStyle/>
          <a:p>
            <a:pPr algn="ctr"/>
            <a:r>
              <a:rPr sz="2000" b="1">
                <a:solidFill>
                  <a:srgbClr val="ED7D31"/>
                </a:solidFill>
                <a:latin typeface="Helvetica"/>
              </a:rPr>
              <a:t>7. </a:t>
            </a:r>
            <a:r>
              <a:rPr sz="1800" b="1">
                <a:solidFill>
                  <a:srgbClr val="1F4E79"/>
                </a:solidFill>
                <a:latin typeface="Helvetica"/>
              </a:rPr>
              <a:t>Deploy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16187" y="3977640"/>
            <a:ext cx="2514600" cy="13716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0"/>
          <a:lstStyle/>
          <a:p>
            <a:pPr algn="ctr"/>
            <a:r>
              <a:rPr sz="2000" b="1">
                <a:solidFill>
                  <a:srgbClr val="ED7D31"/>
                </a:solidFill>
                <a:latin typeface="Helvetica"/>
              </a:rPr>
              <a:t>8. </a:t>
            </a:r>
            <a:r>
              <a:rPr sz="1800" b="1">
                <a:solidFill>
                  <a:srgbClr val="1F4E79"/>
                </a:solidFill>
                <a:latin typeface="Helvetica"/>
              </a:rPr>
              <a:t>Documentação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666666"/>
                </a:solidFill>
                <a:latin typeface="Helvetica"/>
              </a:rPr>
              <a:t>Cada etapa produziu artefato — arquitetura em 17 KB de markdown ANTES da primeira linha de código.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Helvetica"/>
              </a:rPr>
              <a:t>diag-ia-pppm  ·  Geovane Virmecati  ·  Eixo Estratégico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Helvetica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Helvetica"/>
              </a:rPr>
              <a:t>Agentes especializados, não IA generalista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Helvetica"/>
              </a:rPr>
              <a:t>Cada agente com uma responsabilidade única + validação humana (HITL) entre etapas.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2560320" cy="7772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600" b="1">
                <a:solidFill>
                  <a:srgbClr val="FFFFFF"/>
                </a:solidFill>
                <a:latin typeface="Courier New"/>
              </a:rPr>
              <a:t>architect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286000"/>
            <a:ext cx="4114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700" b="1">
                <a:solidFill>
                  <a:srgbClr val="1F1F1F"/>
                </a:solidFill>
                <a:latin typeface="Helvetica"/>
              </a:rPr>
              <a:t>Desenhou a arquitetura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286000"/>
            <a:ext cx="4114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i="1">
                <a:solidFill>
                  <a:srgbClr val="666666"/>
                </a:solidFill>
                <a:latin typeface="Helvetica"/>
              </a:rPr>
              <a:t>estrutura, módulos, schemas, regras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00400"/>
            <a:ext cx="2560320" cy="7772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600" b="1">
                <a:solidFill>
                  <a:srgbClr val="FFFFFF"/>
                </a:solidFill>
                <a:latin typeface="Courier New"/>
              </a:rPr>
              <a:t>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00400"/>
            <a:ext cx="4114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700" b="1">
                <a:solidFill>
                  <a:srgbClr val="1F1F1F"/>
                </a:solidFill>
                <a:latin typeface="Helvetica"/>
              </a:rPr>
              <a:t>Implementou o código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200400"/>
            <a:ext cx="4114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i="1">
                <a:solidFill>
                  <a:srgbClr val="666666"/>
                </a:solidFill>
                <a:latin typeface="Helvetica"/>
              </a:rPr>
              <a:t>24 arquivos Python + 3 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2560320" cy="7772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600" b="1">
                <a:solidFill>
                  <a:srgbClr val="FFFFFF"/>
                </a:solidFill>
                <a:latin typeface="Courier New"/>
              </a:rPr>
              <a:t>vault-writer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114800"/>
            <a:ext cx="4114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700" b="1">
                <a:solidFill>
                  <a:srgbClr val="1F1F1F"/>
                </a:solidFill>
                <a:latin typeface="Helvetica"/>
              </a:rPr>
              <a:t>Documentou no Obsidian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114800"/>
            <a:ext cx="4114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i="1">
                <a:solidFill>
                  <a:srgbClr val="666666"/>
                </a:solidFill>
                <a:latin typeface="Helvetica"/>
              </a:rPr>
              <a:t>nota estruturada com frontmatter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029200"/>
            <a:ext cx="2560320" cy="7772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600" b="1">
                <a:solidFill>
                  <a:srgbClr val="FFFFFF"/>
                </a:solidFill>
                <a:latin typeface="Courier New"/>
              </a:rPr>
              <a:t>librarian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029200"/>
            <a:ext cx="4114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700" b="1">
                <a:solidFill>
                  <a:srgbClr val="1F1F1F"/>
                </a:solidFill>
                <a:latin typeface="Helvetica"/>
              </a:rPr>
              <a:t>Validou a documentação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5029200"/>
            <a:ext cx="4114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i="1">
                <a:solidFill>
                  <a:srgbClr val="666666"/>
                </a:solidFill>
                <a:latin typeface="Helvetica"/>
              </a:rPr>
              <a:t>checou índice, tags, 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ED7D31"/>
                </a:solidFill>
                <a:latin typeface="Helvetica"/>
              </a:rPr>
              <a:t>Nenhum agente sabia o que o outro estava fazendo. Escopo restrito = auditabilidade.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Helvetica"/>
              </a:rPr>
              <a:t>diag-ia-pppm  ·  Geovane Virmecati  ·  Eixo Estratégico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Helvetica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Helvetica"/>
              </a:rPr>
              <a:t>A decisão contraintuitiva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ED7D31"/>
                </a:solidFill>
                <a:latin typeface="Helvetica"/>
              </a:rPr>
              <a:t>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  <a:latin typeface="Helvetica"/>
              </a:rPr>
              <a:t>chamadas de LLM em produção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40967" y="4846320"/>
            <a:ext cx="292608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AUDITÁVEL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2807" y="4846320"/>
            <a:ext cx="292608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GRATUITO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4647" y="4846320"/>
            <a:ext cx="2926080" cy="7315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RASTREÁVEL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666666"/>
                </a:solidFill>
                <a:latin typeface="Helvetica"/>
              </a:rPr>
              <a:t>Recomendador de pilotos é regra matemática, não modelo estatístico. Diretoria consegue auditar.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Helvetica"/>
              </a:rPr>
              <a:t>diag-ia-pppm  ·  Geovane Virmecati  ·  Eixo Estratégico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Helvetica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Helvetica"/>
              </a:rPr>
              <a:t>3 frases da aula → 3 decisões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Helvetica"/>
              </a:rPr>
              <a:t>A camada meta: o próprio app é caso vivo do que a aula ensina.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493776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ctr"/>
            <a:r>
              <a:rPr sz="1400" i="1">
                <a:solidFill>
                  <a:srgbClr val="FFFFFF"/>
                </a:solidFill>
                <a:latin typeface="Helvetica"/>
              </a:rPr>
              <a:t>"IA com método vira valor."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194560"/>
            <a:ext cx="457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ED7D31"/>
                </a:solidFill>
                <a:latin typeface="Helvetica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120640" cy="9144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ctr"/>
            <a:r>
              <a:rPr sz="1300" b="1">
                <a:solidFill>
                  <a:srgbClr val="1F1F1F"/>
                </a:solidFill>
                <a:latin typeface="Helvetica"/>
              </a:rPr>
              <a:t>Pipeline formal + 28 testes automatizados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83280"/>
            <a:ext cx="493776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ctr"/>
            <a:r>
              <a:rPr sz="1400" i="1">
                <a:solidFill>
                  <a:srgbClr val="FFFFFF"/>
                </a:solidFill>
                <a:latin typeface="Helvetica"/>
              </a:rPr>
              <a:t>"Governança e HITL são o gargalo."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3383280"/>
            <a:ext cx="457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ED7D31"/>
                </a:solidFill>
                <a:latin typeface="Helvetica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383280"/>
            <a:ext cx="5120640" cy="9144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ctr"/>
            <a:r>
              <a:rPr sz="1300" b="1">
                <a:solidFill>
                  <a:srgbClr val="1F1F1F"/>
                </a:solidFill>
                <a:latin typeface="Helvetica"/>
              </a:rPr>
              <a:t>Agentes com escopo restrito + validação humana entre etapas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72000"/>
            <a:ext cx="493776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ctr"/>
            <a:r>
              <a:rPr sz="1400" i="1">
                <a:solidFill>
                  <a:srgbClr val="FFFFFF"/>
                </a:solidFill>
                <a:latin typeface="Helvetica"/>
              </a:rPr>
              <a:t>"Diagnóstico revela oportunidade."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4572000"/>
            <a:ext cx="457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ED7D31"/>
                </a:solidFill>
                <a:latin typeface="Helvetica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572000"/>
            <a:ext cx="5120640" cy="9144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ctr"/>
            <a:r>
              <a:rPr sz="1300" b="1">
                <a:solidFill>
                  <a:srgbClr val="1F1F1F"/>
                </a:solidFill>
                <a:latin typeface="Helvetica"/>
              </a:rPr>
              <a:t>App respeita o espaço que o professor deixou para próximas aulas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Helvetica"/>
              </a:rPr>
              <a:t>diag-ia-pppm  ·  Geovane Virmecati  ·  Eixo Estratégico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Helvetica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09728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Helvetica"/>
              </a:rPr>
              <a:t>Números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Helvetica"/>
              </a:rPr>
              <a:t>Reproduzível. Barato. Rastreável.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447" y="2286000"/>
            <a:ext cx="3566160" cy="16459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/>
          <a:lstStyle/>
          <a:p>
            <a:pPr algn="ctr"/>
            <a:r>
              <a:rPr sz="3600" b="1">
                <a:solidFill>
                  <a:srgbClr val="ED7D31"/>
                </a:solidFill>
                <a:latin typeface="Helvetica"/>
              </a:rPr>
              <a:t>~1h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1F1F1F"/>
                </a:solidFill>
                <a:latin typeface="Helvetica"/>
              </a:rPr>
              <a:t>do 'começa' ao
PDF funcionando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767" y="2286000"/>
            <a:ext cx="3566160" cy="16459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/>
          <a:lstStyle/>
          <a:p>
            <a:pPr algn="ctr"/>
            <a:r>
              <a:rPr sz="3600" b="1">
                <a:solidFill>
                  <a:srgbClr val="ED7D31"/>
                </a:solidFill>
                <a:latin typeface="Helvetica"/>
              </a:rPr>
              <a:t>12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1F1F1F"/>
                </a:solidFill>
                <a:latin typeface="Helvetica"/>
              </a:rPr>
              <a:t>arquivos Python
+ 3 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6087" y="2286000"/>
            <a:ext cx="3566160" cy="16459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/>
          <a:lstStyle/>
          <a:p>
            <a:pPr algn="ctr"/>
            <a:r>
              <a:rPr sz="3600" b="1">
                <a:solidFill>
                  <a:srgbClr val="ED7D31"/>
                </a:solidFill>
                <a:latin typeface="Helvetica"/>
              </a:rPr>
              <a:t>28/28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1F1F1F"/>
                </a:solidFill>
                <a:latin typeface="Helvetica"/>
              </a:rPr>
              <a:t>testes
automatizados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447" y="4114800"/>
            <a:ext cx="3566160" cy="16459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/>
          <a:lstStyle/>
          <a:p>
            <a:pPr algn="ctr"/>
            <a:r>
              <a:rPr sz="3600" b="1">
                <a:solidFill>
                  <a:srgbClr val="ED7D31"/>
                </a:solidFill>
                <a:latin typeface="Helvetica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1F1F1F"/>
                </a:solidFill>
                <a:latin typeface="Helvetica"/>
              </a:rPr>
              <a:t>chamadas de IA
por execução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767" y="4114800"/>
            <a:ext cx="3566160" cy="16459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/>
          <a:lstStyle/>
          <a:p>
            <a:pPr algn="ctr"/>
            <a:r>
              <a:rPr sz="3600" b="1">
                <a:solidFill>
                  <a:srgbClr val="ED7D31"/>
                </a:solidFill>
                <a:latin typeface="Helvetica"/>
              </a:rPr>
              <a:t>R$ 0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1F1F1F"/>
                </a:solidFill>
                <a:latin typeface="Helvetica"/>
              </a:rPr>
              <a:t>custo
por uso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6087" y="4114800"/>
            <a:ext cx="3566160" cy="16459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/>
          <a:lstStyle/>
          <a:p>
            <a:pPr algn="ctr"/>
            <a:r>
              <a:rPr sz="3600" b="1">
                <a:solidFill>
                  <a:srgbClr val="ED7D31"/>
                </a:solidFill>
                <a:latin typeface="Helvetica"/>
              </a:rPr>
              <a:t>100%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1F1F1F"/>
                </a:solidFill>
                <a:latin typeface="Helvetica"/>
              </a:rPr>
              <a:t>código aberto
determinístico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66666"/>
                </a:solidFill>
                <a:latin typeface="Helvetica"/>
              </a:rPr>
              <a:t>Repositório: github.com/geovime1977/diag-ia-pppm  ·  Backup: OneDrive Eixo Estratégico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Helvetica"/>
              </a:rPr>
              <a:t>diag-ia-pppm  ·  Geovane Virmecati  ·  Eixo Estratégico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Helvetica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Helvetica"/>
              </a:rPr>
              <a:t>IA foi usada NA construção.</a:t>
            </a:r>
          </a:p>
          <a:p>
            <a:pPr algn="ctr">
              <a:spcBef>
                <a:spcPts val="400"/>
              </a:spcBef>
            </a:pPr>
            <a:r>
              <a:rPr sz="3800" b="1">
                <a:solidFill>
                  <a:srgbClr val="ED7D31"/>
                </a:solidFill>
                <a:latin typeface="Helvetica"/>
              </a:rPr>
              <a:t>Não na operação.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F2F2F2"/>
                </a:solidFill>
                <a:latin typeface="Helvetica"/>
              </a:rPr>
              <a:t>É essa a diferença que este curso está formando.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2F2F2"/>
                </a:solidFill>
                <a:latin typeface="Helvetica"/>
              </a:rPr>
              <a:t>Método: Prof. Dr. José Bezerra · BSBr  |  Base: PMI Standard for AI in PPPM (2026)</a:t>
            </a:r>
          </a:p>
          <a:p>
            <a:pPr algn="ctr"/>
            <a:r>
              <a:rPr sz="1100">
                <a:solidFill>
                  <a:srgbClr val="F2F2F2"/>
                </a:solidFill>
                <a:latin typeface="Helvetica"/>
              </a:rPr>
              <a:t>github.com/geovime1977/diag-ia-pppm  ·  Geovane Virmecati · Eixo Estratégico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